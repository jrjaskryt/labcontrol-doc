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IBM Plex Mono" panose="020B0604020202020204" charset="0"/>
      <p:regular r:id="rId13"/>
      <p:bold r:id="rId14"/>
      <p:italic r:id="rId15"/>
      <p:boldItalic r:id="rId16"/>
    </p:embeddedFont>
    <p:embeddedFont>
      <p:font typeface="IBM Plex Mono Medium" panose="020B0604020202020204" charset="0"/>
      <p:regular r:id="rId17"/>
      <p:italic r:id="rId18"/>
    </p:embeddedFont>
    <p:embeddedFont>
      <p:font typeface="Instrument Sans" panose="020B0604020202020204" charset="0"/>
      <p:regular r:id="rId19"/>
    </p:embeddedFont>
    <p:embeddedFont>
      <p:font typeface="Instrument Sans Bold" panose="020B0604020202020204" charset="0"/>
      <p:regular r:id="rId20"/>
    </p:embeddedFont>
    <p:embeddedFont>
      <p:font typeface="Instrument Sans Medium" panose="020B0604020202020204" charset="0"/>
      <p:regular r:id="rId21"/>
    </p:embeddedFont>
    <p:embeddedFont>
      <p:font typeface="Literata Bold" panose="020B0604020202020204" charset="0"/>
      <p:regular r:id="rId22"/>
    </p:embeddedFont>
    <p:embeddedFont>
      <p:font typeface="Literata ExtraBold" panose="020B0604020202020204" charset="0"/>
      <p:regular r:id="rId2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E14EED7-D996-07C8-59D6-6D053D6A7FFB}" v="7" dt="2026-10-20T15:36:46.95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29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28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Guest User" userId="S::urn:spo:tenantanon#c8a8edf3-c228-449c-82d6-87bee969b05f::" providerId="AD" clId="Web-{21CAADF4-4C05-89E2-C092-CD072269475C}"/>
    <pc:docChg chg="modSld">
      <pc:chgData name="Guest User" userId="S::urn:spo:tenantanon#c8a8edf3-c228-449c-82d6-87bee969b05f::" providerId="AD" clId="Web-{21CAADF4-4C05-89E2-C092-CD072269475C}" dt="2026-10-15T15:24:22.861" v="1"/>
      <pc:docMkLst>
        <pc:docMk/>
      </pc:docMkLst>
      <pc:sldChg chg="modSp">
        <pc:chgData name="Guest User" userId="S::urn:spo:tenantanon#c8a8edf3-c228-449c-82d6-87bee969b05f::" providerId="AD" clId="Web-{21CAADF4-4C05-89E2-C092-CD072269475C}" dt="2026-10-15T15:24:22.861" v="1"/>
        <pc:sldMkLst>
          <pc:docMk/>
          <pc:sldMk cId="0" sldId="257"/>
        </pc:sldMkLst>
        <pc:picChg chg="mod">
          <ac:chgData name="Guest User" userId="S::urn:spo:tenantanon#c8a8edf3-c228-449c-82d6-87bee969b05f::" providerId="AD" clId="Web-{21CAADF4-4C05-89E2-C092-CD072269475C}" dt="2026-10-15T15:24:22.861" v="1"/>
          <ac:picMkLst>
            <pc:docMk/>
            <pc:sldMk cId="0" sldId="257"/>
            <ac:picMk id="8" creationId="{00000000-0000-0000-0000-000000000000}"/>
          </ac:picMkLst>
        </pc:picChg>
      </pc:sldChg>
    </pc:docChg>
  </pc:docChgLst>
  <pc:docChgLst>
    <pc:chgData name="Jheremy Jhostin Ramirez Arcani" userId="S::raj2032131@est.univalle.edu::25f74dfc-0954-423f-af6c-10e07c8ce0a1" providerId="AD" clId="Web-{BE14EED7-D996-07C8-59D6-6D053D6A7FFB}"/>
    <pc:docChg chg="modSld">
      <pc:chgData name="Jheremy Jhostin Ramirez Arcani" userId="S::raj2032131@est.univalle.edu::25f74dfc-0954-423f-af6c-10e07c8ce0a1" providerId="AD" clId="Web-{BE14EED7-D996-07C8-59D6-6D053D6A7FFB}" dt="2026-10-20T15:36:46.957" v="5" actId="20577"/>
      <pc:docMkLst>
        <pc:docMk/>
      </pc:docMkLst>
      <pc:sldChg chg="modSp">
        <pc:chgData name="Jheremy Jhostin Ramirez Arcani" userId="S::raj2032131@est.univalle.edu::25f74dfc-0954-423f-af6c-10e07c8ce0a1" providerId="AD" clId="Web-{BE14EED7-D996-07C8-59D6-6D053D6A7FFB}" dt="2026-10-20T15:36:46.957" v="5" actId="20577"/>
        <pc:sldMkLst>
          <pc:docMk/>
          <pc:sldMk cId="0" sldId="257"/>
        </pc:sldMkLst>
        <pc:spChg chg="mod">
          <ac:chgData name="Jheremy Jhostin Ramirez Arcani" userId="S::raj2032131@est.univalle.edu::25f74dfc-0954-423f-af6c-10e07c8ce0a1" providerId="AD" clId="Web-{BE14EED7-D996-07C8-59D6-6D053D6A7FFB}" dt="2026-10-20T15:27:27.941" v="1" actId="20577"/>
          <ac:spMkLst>
            <pc:docMk/>
            <pc:sldMk cId="0" sldId="257"/>
            <ac:spMk id="3" creationId="{00000000-0000-0000-0000-000000000000}"/>
          </ac:spMkLst>
        </pc:spChg>
        <pc:spChg chg="mod">
          <ac:chgData name="Jheremy Jhostin Ramirez Arcani" userId="S::raj2032131@est.univalle.edu::25f74dfc-0954-423f-af6c-10e07c8ce0a1" providerId="AD" clId="Web-{BE14EED7-D996-07C8-59D6-6D053D6A7FFB}" dt="2026-10-20T15:36:24.520" v="4" actId="20577"/>
          <ac:spMkLst>
            <pc:docMk/>
            <pc:sldMk cId="0" sldId="257"/>
            <ac:spMk id="6" creationId="{00000000-0000-0000-0000-000000000000}"/>
          </ac:spMkLst>
        </pc:spChg>
        <pc:spChg chg="mod">
          <ac:chgData name="Jheremy Jhostin Ramirez Arcani" userId="S::raj2032131@est.univalle.edu::25f74dfc-0954-423f-af6c-10e07c8ce0a1" providerId="AD" clId="Web-{BE14EED7-D996-07C8-59D6-6D053D6A7FFB}" dt="2026-10-20T15:36:46.957" v="5" actId="20577"/>
          <ac:spMkLst>
            <pc:docMk/>
            <pc:sldMk cId="0" sldId="257"/>
            <ac:spMk id="17" creationId="{00000000-0000-0000-0000-000000000000}"/>
          </ac:spMkLst>
        </pc:spChg>
      </pc:sldChg>
      <pc:sldChg chg="modSp">
        <pc:chgData name="Jheremy Jhostin Ramirez Arcani" userId="S::raj2032131@est.univalle.edu::25f74dfc-0954-423f-af6c-10e07c8ce0a1" providerId="AD" clId="Web-{BE14EED7-D996-07C8-59D6-6D053D6A7FFB}" dt="2026-10-20T15:36:04.036" v="2" actId="20577"/>
        <pc:sldMkLst>
          <pc:docMk/>
          <pc:sldMk cId="0" sldId="262"/>
        </pc:sldMkLst>
        <pc:spChg chg="mod">
          <ac:chgData name="Jheremy Jhostin Ramirez Arcani" userId="S::raj2032131@est.univalle.edu::25f74dfc-0954-423f-af6c-10e07c8ce0a1" providerId="AD" clId="Web-{BE14EED7-D996-07C8-59D6-6D053D6A7FFB}" dt="2026-10-20T15:36:04.036" v="2" actId="20577"/>
          <ac:spMkLst>
            <pc:docMk/>
            <pc:sldMk cId="0" sldId="262"/>
            <ac:spMk id="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6111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6DC3EF3-71F2-49CC-A5FE-FB0C1430FB30}" type="datetimeFigureOut">
              <a:t>10/20/2026</a:t>
            </a:fld>
            <a:endParaRPr lang="es-ES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-228600" y="1524000"/>
            <a:ext cx="7315200" cy="411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S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5867400"/>
            <a:ext cx="5486400" cy="48006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11580813"/>
            <a:ext cx="2971800" cy="6111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ABC92D-5ACD-4FFD-BD41-07AF301EF50A}" type="slidenum">
              <a:t>‹#›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21197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3.png"/><Relationship Id="rId4" Type="http://schemas.openxmlformats.org/officeDocument/2006/relationships/hyperlink" Target="https://gamma.app/?utm_source=made-with-gamma" TargetMode="Externa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344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50000"/>
            </a:srgbClr>
          </a:solidFill>
          <a:ln/>
        </p:spPr>
      </p:sp>
      <p:pic>
        <p:nvPicPr>
          <p:cNvPr id="5" name="Image 2" descr="preencoded.png">
            <a:hlinkClick r:id="rId4"/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3446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preencoded.png">
            <a:hlinkClick r:id="rId3"/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6.png"/><Relationship Id="rId4" Type="http://schemas.openxmlformats.org/officeDocument/2006/relationships/image" Target="../media/image2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7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85783" y="1117600"/>
            <a:ext cx="8889778" cy="4107656"/>
          </a:xfrm>
          <a:prstGeom prst="roundRect">
            <a:avLst>
              <a:gd name="adj" fmla="val 2968"/>
            </a:avLst>
          </a:prstGeom>
          <a:solidFill>
            <a:srgbClr val="2B1650"/>
          </a:solidFill>
          <a:ln/>
        </p:spPr>
      </p:sp>
      <p:sp>
        <p:nvSpPr>
          <p:cNvPr id="3" name="Text 1"/>
          <p:cNvSpPr/>
          <p:nvPr/>
        </p:nvSpPr>
        <p:spPr>
          <a:xfrm>
            <a:off x="1041374" y="1430655"/>
            <a:ext cx="8788180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EXPOSICIÓN ACADÉMICA · GRUPO SQLITOS</a:t>
            </a:r>
            <a:endParaRPr lang="en-US" sz="1300"/>
          </a:p>
        </p:txBody>
      </p:sp>
      <p:sp>
        <p:nvSpPr>
          <p:cNvPr id="4" name="Text 2"/>
          <p:cNvSpPr/>
          <p:nvPr/>
        </p:nvSpPr>
        <p:spPr>
          <a:xfrm>
            <a:off x="1041374" y="1838271"/>
            <a:ext cx="8178595" cy="198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LABCONTROL:</a:t>
            </a:r>
            <a:endParaRPr lang="en-US" sz="520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gestión de laboratorios</a:t>
            </a:r>
            <a:endParaRPr lang="en-US" sz="520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con XP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1041374" y="3898245"/>
            <a:ext cx="817859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Sistema web propuesto para gestionar y controlar los laboratorios del Centro de Cómputo de Univalle, sede La Paz.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1041374" y="4698266"/>
            <a:ext cx="8788180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>
                <a:solidFill>
                  <a:srgbClr val="FFFFFF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Fecha: [15/10/2026]</a:t>
            </a:r>
            <a:endParaRPr lang="en-US" sz="1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2B1650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541655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300" kern="100" spc="13">
              <a:solidFill>
                <a:srgbClr val="FFFFFF"/>
              </a:solidFill>
              <a:latin typeface="IBM Plex Mono Medium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5591" y="5125686"/>
            <a:ext cx="2946326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Bloque</a:t>
            </a:r>
            <a:endParaRPr lang="en-US" sz="520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01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4317892" y="1072971"/>
            <a:ext cx="78230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EL PROYECTO Y SU PROPÓSITO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317892" y="1446956"/>
            <a:ext cx="721342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El </a:t>
            </a:r>
            <a:r>
              <a:rPr lang="en-US" sz="4400" b="1" kern="100" spc="-66" err="1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proyecto</a:t>
            </a:r>
            <a:r>
              <a:rPr lang="en-US" sz="4400" b="1" kern="100" spc="-66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 y </a:t>
            </a:r>
            <a:r>
              <a:rPr lang="en-US" sz="4400" b="1" kern="100" spc="-66" err="1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su</a:t>
            </a:r>
            <a:r>
              <a:rPr lang="en-US" sz="4400" b="1" kern="100" spc="-66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 </a:t>
            </a:r>
            <a:r>
              <a:rPr lang="en-US" sz="4400" b="1" kern="100" spc="-66" err="1">
                <a:solidFill>
                  <a:srgbClr val="000000"/>
                </a:solidFill>
                <a:latin typeface="Literata Bold"/>
                <a:ea typeface="Literata Bold" pitchFamily="34" charset="-122"/>
                <a:cs typeface="Literata Bold" pitchFamily="34" charset="-120"/>
              </a:rPr>
              <a:t>propósito</a:t>
            </a:r>
            <a:endParaRPr lang="en-US" sz="4400" err="1">
              <a:latin typeface="Literata Bold"/>
            </a:endParaRPr>
          </a:p>
        </p:txBody>
      </p:sp>
      <p:sp>
        <p:nvSpPr>
          <p:cNvPr id="7" name="Shape 5"/>
          <p:cNvSpPr/>
          <p:nvPr/>
        </p:nvSpPr>
        <p:spPr>
          <a:xfrm>
            <a:off x="4317892" y="2784475"/>
            <a:ext cx="1803256" cy="50701"/>
          </a:xfrm>
          <a:prstGeom prst="roundRect">
            <a:avLst>
              <a:gd name="adj" fmla="val 49999"/>
            </a:avLst>
          </a:prstGeom>
          <a:solidFill>
            <a:srgbClr val="13663C"/>
          </a:solidFill>
          <a:ln/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2" y="3068638"/>
            <a:ext cx="571486" cy="5715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317892" y="3762375"/>
            <a:ext cx="22012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Problema</a:t>
            </a:r>
            <a:endParaRPr lang="en-US" sz="2000"/>
          </a:p>
        </p:txBody>
      </p:sp>
      <p:sp>
        <p:nvSpPr>
          <p:cNvPr id="10" name="Text 7"/>
          <p:cNvSpPr/>
          <p:nvPr/>
        </p:nvSpPr>
        <p:spPr>
          <a:xfrm>
            <a:off x="4317892" y="4231323"/>
            <a:ext cx="2201212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Información dispersa y procesos manuales.</a:t>
            </a:r>
            <a:endParaRPr lang="en-US" sz="1800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896" y="3068638"/>
            <a:ext cx="571486" cy="57150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823896" y="3762375"/>
            <a:ext cx="220131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Visión</a:t>
            </a:r>
            <a:endParaRPr lang="en-US" sz="2000"/>
          </a:p>
        </p:txBody>
      </p:sp>
      <p:sp>
        <p:nvSpPr>
          <p:cNvPr id="13" name="Text 9"/>
          <p:cNvSpPr/>
          <p:nvPr/>
        </p:nvSpPr>
        <p:spPr>
          <a:xfrm>
            <a:off x="6823896" y="4231323"/>
            <a:ext cx="220131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Una plataforma centralizada.</a:t>
            </a:r>
            <a:endParaRPr lang="en-US" sz="1800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000" y="3068638"/>
            <a:ext cx="571486" cy="5715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9330000" y="3762375"/>
            <a:ext cx="22012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Enfoque</a:t>
            </a:r>
            <a:endParaRPr lang="en-US" sz="2000"/>
          </a:p>
        </p:txBody>
      </p:sp>
      <p:sp>
        <p:nvSpPr>
          <p:cNvPr id="16" name="Text 11"/>
          <p:cNvSpPr/>
          <p:nvPr/>
        </p:nvSpPr>
        <p:spPr>
          <a:xfrm>
            <a:off x="9330000" y="4231323"/>
            <a:ext cx="22012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XP, backlog e iteraciones.</a:t>
            </a:r>
            <a:endParaRPr lang="en-US" sz="1800"/>
          </a:p>
        </p:txBody>
      </p:sp>
      <p:sp>
        <p:nvSpPr>
          <p:cNvPr id="17" name="Text 12"/>
          <p:cNvSpPr/>
          <p:nvPr/>
        </p:nvSpPr>
        <p:spPr>
          <a:xfrm>
            <a:off x="4317892" y="5339913"/>
            <a:ext cx="7213420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endParaRPr lang="en-US" sz="1400" kern="100" spc="14">
              <a:solidFill>
                <a:srgbClr val="D7D1E1"/>
              </a:solidFill>
              <a:latin typeface="IBM Plex Mono Medium"/>
            </a:endParaRPr>
          </a:p>
        </p:txBody>
      </p:sp>
      <p:sp>
        <p:nvSpPr>
          <p:cNvPr id="18" name="Text 13"/>
          <p:cNvSpPr/>
          <p:nvPr/>
        </p:nvSpPr>
        <p:spPr>
          <a:xfrm>
            <a:off x="11790167" y="6526510"/>
            <a:ext cx="401528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1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545454"/>
            <a:ext cx="11277318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El problema: información dispersa y procesos manuales</a:t>
            </a:r>
            <a:endParaRPr lang="en-US" sz="4400"/>
          </a:p>
        </p:txBody>
      </p:sp>
      <p:sp>
        <p:nvSpPr>
          <p:cNvPr id="3" name="Text 1"/>
          <p:cNvSpPr/>
          <p:nvPr/>
        </p:nvSpPr>
        <p:spPr>
          <a:xfrm>
            <a:off x="457189" y="1827411"/>
            <a:ext cx="5486263" cy="15936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 consulta de horarios y disponibilidad puede depender de registros distribuidos, físicos o consultas presenciales.</a:t>
            </a:r>
            <a:endParaRPr lang="en-US" sz="1800"/>
          </a:p>
          <a:p>
            <a:pPr marL="365760" indent="-365760" algn="l">
              <a:lnSpc>
                <a:spcPct val="113000"/>
              </a:lnSpc>
              <a:buSzPct val="100000"/>
              <a:buChar char="•"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Esto dificulta seguir solicitudes, identificar espacios disponibles y comunicar fallas.</a:t>
            </a:r>
            <a:endParaRPr lang="en-US" sz="1800"/>
          </a:p>
        </p:txBody>
      </p:sp>
      <p:sp>
        <p:nvSpPr>
          <p:cNvPr id="4" name="Text 2"/>
          <p:cNvSpPr/>
          <p:nvPr/>
        </p:nvSpPr>
        <p:spPr>
          <a:xfrm>
            <a:off x="6248244" y="1831221"/>
            <a:ext cx="5486263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LABCONTROL busca centralizar la información y mejorar la trazabilidad.</a:t>
            </a:r>
            <a:endParaRPr lang="en-US" sz="1800"/>
          </a:p>
        </p:txBody>
      </p:sp>
      <p:sp>
        <p:nvSpPr>
          <p:cNvPr id="5" name="Text 3"/>
          <p:cNvSpPr/>
          <p:nvPr/>
        </p:nvSpPr>
        <p:spPr>
          <a:xfrm>
            <a:off x="457189" y="3607118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Esquema</a:t>
            </a:r>
            <a:endParaRPr lang="en-US" sz="1300"/>
          </a:p>
        </p:txBody>
      </p:sp>
      <p:sp>
        <p:nvSpPr>
          <p:cNvPr id="6" name="Shape 4"/>
          <p:cNvSpPr/>
          <p:nvPr/>
        </p:nvSpPr>
        <p:spPr>
          <a:xfrm>
            <a:off x="457189" y="3991273"/>
            <a:ext cx="2590735" cy="2197100"/>
          </a:xfrm>
          <a:prstGeom prst="rect">
            <a:avLst/>
          </a:prstGeom>
          <a:solidFill>
            <a:srgbClr val="13663C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4219873"/>
            <a:ext cx="571486" cy="5715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85783" y="4977110"/>
            <a:ext cx="2133547" cy="660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Información dispersa</a:t>
            </a:r>
            <a:endParaRPr lang="en-US" sz="2000"/>
          </a:p>
        </p:txBody>
      </p:sp>
      <p:sp>
        <p:nvSpPr>
          <p:cNvPr id="9" name="Shape 6"/>
          <p:cNvSpPr/>
          <p:nvPr/>
        </p:nvSpPr>
        <p:spPr>
          <a:xfrm>
            <a:off x="3352716" y="3991273"/>
            <a:ext cx="2590735" cy="2197100"/>
          </a:xfrm>
          <a:prstGeom prst="rect">
            <a:avLst/>
          </a:prstGeom>
          <a:solidFill>
            <a:srgbClr val="13663C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1310" y="4219873"/>
            <a:ext cx="571486" cy="5715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81310" y="4977110"/>
            <a:ext cx="213354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Consultas lentas</a:t>
            </a:r>
            <a:endParaRPr lang="en-US" sz="2000"/>
          </a:p>
        </p:txBody>
      </p:sp>
      <p:sp>
        <p:nvSpPr>
          <p:cNvPr id="12" name="Shape 8"/>
          <p:cNvSpPr/>
          <p:nvPr/>
        </p:nvSpPr>
        <p:spPr>
          <a:xfrm>
            <a:off x="6248244" y="3991273"/>
            <a:ext cx="2590735" cy="2197100"/>
          </a:xfrm>
          <a:prstGeom prst="rect">
            <a:avLst/>
          </a:prstGeom>
          <a:solidFill>
            <a:srgbClr val="13663C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76838" y="4219873"/>
            <a:ext cx="571486" cy="5715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76838" y="4977110"/>
            <a:ext cx="2133547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Baja trazabilidad</a:t>
            </a:r>
            <a:endParaRPr lang="en-US" sz="2000"/>
          </a:p>
        </p:txBody>
      </p:sp>
      <p:sp>
        <p:nvSpPr>
          <p:cNvPr id="15" name="Shape 10"/>
          <p:cNvSpPr/>
          <p:nvPr/>
        </p:nvSpPr>
        <p:spPr>
          <a:xfrm>
            <a:off x="9143771" y="3991273"/>
            <a:ext cx="2590735" cy="2197100"/>
          </a:xfrm>
          <a:prstGeom prst="rect">
            <a:avLst/>
          </a:prstGeom>
          <a:solidFill>
            <a:srgbClr val="13663C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72366" y="4219873"/>
            <a:ext cx="571486" cy="5715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9372366" y="4977110"/>
            <a:ext cx="2133547" cy="990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Necesidad de una plataforma centralizada</a:t>
            </a:r>
            <a:endParaRPr lang="en-US" sz="2000"/>
          </a:p>
        </p:txBody>
      </p:sp>
      <p:sp>
        <p:nvSpPr>
          <p:cNvPr id="18" name="Text 12"/>
          <p:cNvSpPr/>
          <p:nvPr/>
        </p:nvSpPr>
        <p:spPr>
          <a:xfrm>
            <a:off x="11786198" y="6526510"/>
            <a:ext cx="40549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12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455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DIRECCIÓN DEL SISTEMA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57189" y="839439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Visión, usuarios y objetivos</a:t>
            </a:r>
            <a:endParaRPr lang="en-US" sz="4400"/>
          </a:p>
        </p:txBody>
      </p:sp>
      <p:sp>
        <p:nvSpPr>
          <p:cNvPr id="4" name="Shape 2"/>
          <p:cNvSpPr/>
          <p:nvPr/>
        </p:nvSpPr>
        <p:spPr>
          <a:xfrm>
            <a:off x="457189" y="1534716"/>
            <a:ext cx="3454314" cy="3110607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/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783" y="1763316"/>
            <a:ext cx="457189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783" y="234529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Visión</a:t>
            </a:r>
            <a:endParaRPr lang="en-US" sz="2400"/>
          </a:p>
        </p:txBody>
      </p:sp>
      <p:sp>
        <p:nvSpPr>
          <p:cNvPr id="7" name="Text 4"/>
          <p:cNvSpPr/>
          <p:nvPr/>
        </p:nvSpPr>
        <p:spPr>
          <a:xfrm>
            <a:off x="685783" y="2877681"/>
            <a:ext cx="2997125" cy="15428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Una plataforma web para consultar, administrar y controlar laboratorios con información centralizada y procesos organizados.</a:t>
            </a:r>
            <a:endParaRPr lang="en-US" sz="1800"/>
          </a:p>
        </p:txBody>
      </p:sp>
      <p:sp>
        <p:nvSpPr>
          <p:cNvPr id="8" name="Shape 5"/>
          <p:cNvSpPr/>
          <p:nvPr/>
        </p:nvSpPr>
        <p:spPr>
          <a:xfrm>
            <a:off x="4368691" y="1534716"/>
            <a:ext cx="3454314" cy="3110607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97285" y="1763316"/>
            <a:ext cx="457189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97285" y="234529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Usuarios</a:t>
            </a:r>
            <a:endParaRPr lang="en-US" sz="2400"/>
          </a:p>
        </p:txBody>
      </p:sp>
      <p:sp>
        <p:nvSpPr>
          <p:cNvPr id="11" name="Text 7"/>
          <p:cNvSpPr/>
          <p:nvPr/>
        </p:nvSpPr>
        <p:spPr>
          <a:xfrm>
            <a:off x="4597285" y="2877681"/>
            <a:ext cx="2997125" cy="9257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Estudiantes, docentes, encargados del Centro de Cómputo y administradores.</a:t>
            </a:r>
            <a:endParaRPr lang="en-US" sz="1800"/>
          </a:p>
        </p:txBody>
      </p:sp>
      <p:sp>
        <p:nvSpPr>
          <p:cNvPr id="12" name="Shape 8"/>
          <p:cNvSpPr/>
          <p:nvPr/>
        </p:nvSpPr>
        <p:spPr>
          <a:xfrm>
            <a:off x="8280193" y="1534716"/>
            <a:ext cx="3454314" cy="3110607"/>
          </a:xfrm>
          <a:prstGeom prst="roundRect">
            <a:avLst>
              <a:gd name="adj" fmla="val 3919"/>
            </a:avLst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08787" y="1763316"/>
            <a:ext cx="457189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08787" y="2345293"/>
            <a:ext cx="299712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Objetivo</a:t>
            </a:r>
            <a:endParaRPr lang="en-US" sz="2400"/>
          </a:p>
        </p:txBody>
      </p:sp>
      <p:sp>
        <p:nvSpPr>
          <p:cNvPr id="15" name="Text 10"/>
          <p:cNvSpPr/>
          <p:nvPr/>
        </p:nvSpPr>
        <p:spPr>
          <a:xfrm>
            <a:off x="8508787" y="2877681"/>
            <a:ext cx="2997125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Desarrollar progresivamente el sistema aplicando XP, entregas incrementales y mejora continua.</a:t>
            </a:r>
            <a:endParaRPr lang="en-US" sz="1800"/>
          </a:p>
        </p:txBody>
      </p:sp>
      <p:sp>
        <p:nvSpPr>
          <p:cNvPr id="16" name="Text 11"/>
          <p:cNvSpPr/>
          <p:nvPr/>
        </p:nvSpPr>
        <p:spPr>
          <a:xfrm>
            <a:off x="457189" y="4832013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>
                <a:solidFill>
                  <a:srgbClr val="D7D1E1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Flujo de valor</a:t>
            </a:r>
            <a:endParaRPr lang="en-US" sz="1400"/>
          </a:p>
        </p:txBody>
      </p:sp>
      <p:sp>
        <p:nvSpPr>
          <p:cNvPr id="17" name="Text 12"/>
          <p:cNvSpPr/>
          <p:nvPr/>
        </p:nvSpPr>
        <p:spPr>
          <a:xfrm>
            <a:off x="457189" y="5235813"/>
            <a:ext cx="11734506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Consultar → Solicitar → Aprobar → Utilizar → Reportar incidencia</a:t>
            </a:r>
            <a:endParaRPr lang="en-US" sz="1800"/>
          </a:p>
        </p:txBody>
      </p:sp>
      <p:sp>
        <p:nvSpPr>
          <p:cNvPr id="18" name="Text 13"/>
          <p:cNvSpPr/>
          <p:nvPr/>
        </p:nvSpPr>
        <p:spPr>
          <a:xfrm>
            <a:off x="11782229" y="6526510"/>
            <a:ext cx="40946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04</a:t>
            </a:r>
            <a:endParaRPr lang="en-US" sz="12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455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DEL ENFOQUE AL MÉTODO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57189" y="839439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De la agilidad a Extreme Programming</a:t>
            </a:r>
            <a:endParaRPr lang="en-US" sz="4400"/>
          </a:p>
        </p:txBody>
      </p:sp>
      <p:sp>
        <p:nvSpPr>
          <p:cNvPr id="4" name="Text 2"/>
          <p:cNvSpPr/>
          <p:nvPr/>
        </p:nvSpPr>
        <p:spPr>
          <a:xfrm>
            <a:off x="457189" y="1545193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Desarrollo ágil</a:t>
            </a:r>
            <a:endParaRPr lang="en-US" sz="2400"/>
          </a:p>
        </p:txBody>
      </p:sp>
      <p:sp>
        <p:nvSpPr>
          <p:cNvPr id="5" name="Text 3"/>
          <p:cNvSpPr/>
          <p:nvPr/>
        </p:nvSpPr>
        <p:spPr>
          <a:xfrm>
            <a:off x="457189" y="2077581"/>
            <a:ext cx="5410065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 desarrollo ágil trabaja en ciclos cortos, con colaboración, entregas frecuentes y adaptación.</a:t>
            </a:r>
            <a:endParaRPr lang="en-US" sz="180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805212"/>
            <a:ext cx="571486" cy="5715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189" y="3562449"/>
            <a:ext cx="24764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Ciclos cortos</a:t>
            </a:r>
            <a:endParaRPr lang="en-US" sz="2000"/>
          </a:p>
        </p:txBody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0815" y="2805212"/>
            <a:ext cx="571486" cy="5715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390815" y="3562449"/>
            <a:ext cx="24764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Colaboración</a:t>
            </a:r>
            <a:endParaRPr lang="en-US" sz="20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189" y="4341912"/>
            <a:ext cx="571486" cy="5715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57189" y="5099149"/>
            <a:ext cx="24764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Entregas frecuentes</a:t>
            </a:r>
            <a:endParaRPr lang="en-US" sz="200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90815" y="4341912"/>
            <a:ext cx="571486" cy="57150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3390815" y="5099149"/>
            <a:ext cx="2476438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Adaptación</a:t>
            </a:r>
            <a:endParaRPr lang="en-US" sz="2000"/>
          </a:p>
        </p:txBody>
      </p:sp>
      <p:sp>
        <p:nvSpPr>
          <p:cNvPr id="14" name="Text 8"/>
          <p:cNvSpPr/>
          <p:nvPr/>
        </p:nvSpPr>
        <p:spPr>
          <a:xfrm>
            <a:off x="6324442" y="1545193"/>
            <a:ext cx="5410065" cy="3961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4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Extreme Programming (XP)</a:t>
            </a:r>
            <a:endParaRPr lang="en-US" sz="2400"/>
          </a:p>
        </p:txBody>
      </p:sp>
      <p:sp>
        <p:nvSpPr>
          <p:cNvPr id="15" name="Text 9"/>
          <p:cNvSpPr/>
          <p:nvPr/>
        </p:nvSpPr>
        <p:spPr>
          <a:xfrm>
            <a:off x="6324442" y="2073771"/>
            <a:ext cx="5410065" cy="16571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spcAft>
                <a:spcPts val="850"/>
              </a:spcAft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XP enfatiza calidad técnica, comunicación, simplicidad, retroalimentación y respuesta al cambio.</a:t>
            </a:r>
            <a:endParaRPr lang="en-US" sz="1800"/>
          </a:p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XP combina desarrollo iterativo e incremental: revisar y mejorar, mientras se agregan capacidades.</a:t>
            </a:r>
            <a:endParaRPr lang="en-US" sz="1800"/>
          </a:p>
        </p:txBody>
      </p:sp>
      <p:sp>
        <p:nvSpPr>
          <p:cNvPr id="16" name="Text 10"/>
          <p:cNvSpPr/>
          <p:nvPr/>
        </p:nvSpPr>
        <p:spPr>
          <a:xfrm>
            <a:off x="152396" y="6096040"/>
            <a:ext cx="11886903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13000"/>
              </a:lnSpc>
              <a:buNone/>
            </a:pPr>
            <a:r>
              <a:rPr lang="en-US" sz="18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Idea clave: no esperar al sistema completo para obtener evidencia.</a:t>
            </a:r>
            <a:endParaRPr lang="en-US" sz="1800"/>
          </a:p>
        </p:txBody>
      </p:sp>
      <p:sp>
        <p:nvSpPr>
          <p:cNvPr id="17" name="Text 11"/>
          <p:cNvSpPr/>
          <p:nvPr/>
        </p:nvSpPr>
        <p:spPr>
          <a:xfrm>
            <a:off x="11784809" y="6526510"/>
            <a:ext cx="40688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05</a:t>
            </a:r>
            <a:endParaRPr lang="en-US" sz="12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5455"/>
            <a:ext cx="11734506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PRINCIPIOS QUE GUÍAN EL TRABAJO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457189" y="839439"/>
            <a:ext cx="11277318" cy="586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Valores XP y aplicación en LABCONTROL</a:t>
            </a:r>
            <a:endParaRPr lang="en-US" sz="4400"/>
          </a:p>
        </p:txBody>
      </p:sp>
      <p:sp>
        <p:nvSpPr>
          <p:cNvPr id="4" name="Shape 2"/>
          <p:cNvSpPr/>
          <p:nvPr/>
        </p:nvSpPr>
        <p:spPr>
          <a:xfrm>
            <a:off x="457189" y="1877616"/>
            <a:ext cx="3555911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</p:sp>
      <p:sp>
        <p:nvSpPr>
          <p:cNvPr id="5" name="Text 3"/>
          <p:cNvSpPr/>
          <p:nvPr/>
        </p:nvSpPr>
        <p:spPr>
          <a:xfrm>
            <a:off x="685783" y="2457053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Comunicación</a:t>
            </a:r>
            <a:endParaRPr lang="en-US" sz="2000"/>
          </a:p>
        </p:txBody>
      </p:sp>
      <p:sp>
        <p:nvSpPr>
          <p:cNvPr id="6" name="Text 4"/>
          <p:cNvSpPr/>
          <p:nvPr/>
        </p:nvSpPr>
        <p:spPr>
          <a:xfrm>
            <a:off x="685783" y="2927191"/>
            <a:ext cx="30987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Aclarar dudas y coordinar avances.</a:t>
            </a:r>
            <a:endParaRPr lang="en-US" sz="1550"/>
          </a:p>
        </p:txBody>
      </p:sp>
      <p:sp>
        <p:nvSpPr>
          <p:cNvPr id="7" name="Shape 5"/>
          <p:cNvSpPr/>
          <p:nvPr/>
        </p:nvSpPr>
        <p:spPr>
          <a:xfrm>
            <a:off x="4317892" y="1877616"/>
            <a:ext cx="3555911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</p:sp>
      <p:sp>
        <p:nvSpPr>
          <p:cNvPr id="8" name="Text 6"/>
          <p:cNvSpPr/>
          <p:nvPr/>
        </p:nvSpPr>
        <p:spPr>
          <a:xfrm>
            <a:off x="4546486" y="2457053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Simplicidad</a:t>
            </a:r>
            <a:endParaRPr lang="en-US" sz="2000"/>
          </a:p>
        </p:txBody>
      </p:sp>
      <p:sp>
        <p:nvSpPr>
          <p:cNvPr id="9" name="Text 7"/>
          <p:cNvSpPr/>
          <p:nvPr/>
        </p:nvSpPr>
        <p:spPr>
          <a:xfrm>
            <a:off x="4546486" y="2927191"/>
            <a:ext cx="3098722" cy="531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Implementar lo necesario para el problema actual.</a:t>
            </a:r>
            <a:endParaRPr lang="en-US" sz="1550"/>
          </a:p>
        </p:txBody>
      </p:sp>
      <p:sp>
        <p:nvSpPr>
          <p:cNvPr id="10" name="Shape 8"/>
          <p:cNvSpPr/>
          <p:nvPr/>
        </p:nvSpPr>
        <p:spPr>
          <a:xfrm>
            <a:off x="8178595" y="1877616"/>
            <a:ext cx="3555911" cy="1804591"/>
          </a:xfrm>
          <a:prstGeom prst="roundRect">
            <a:avLst>
              <a:gd name="adj" fmla="val 6756"/>
            </a:avLst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8407190" y="2457053"/>
            <a:ext cx="309872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Retroalimentación</a:t>
            </a:r>
            <a:endParaRPr lang="en-US" sz="2000"/>
          </a:p>
        </p:txBody>
      </p:sp>
      <p:sp>
        <p:nvSpPr>
          <p:cNvPr id="12" name="Text 10"/>
          <p:cNvSpPr/>
          <p:nvPr/>
        </p:nvSpPr>
        <p:spPr>
          <a:xfrm>
            <a:off x="8407190" y="2927191"/>
            <a:ext cx="3327317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Revisar y ajustar.</a:t>
            </a:r>
            <a:endParaRPr lang="en-US" sz="1550"/>
          </a:p>
        </p:txBody>
      </p:sp>
      <p:sp>
        <p:nvSpPr>
          <p:cNvPr id="13" name="Shape 11"/>
          <p:cNvSpPr/>
          <p:nvPr/>
        </p:nvSpPr>
        <p:spPr>
          <a:xfrm>
            <a:off x="457189" y="4202906"/>
            <a:ext cx="5486263" cy="1538883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685783" y="4782344"/>
            <a:ext cx="50290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Valentía</a:t>
            </a:r>
            <a:endParaRPr lang="en-US" sz="2000"/>
          </a:p>
        </p:txBody>
      </p:sp>
      <p:sp>
        <p:nvSpPr>
          <p:cNvPr id="15" name="Text 13"/>
          <p:cNvSpPr/>
          <p:nvPr/>
        </p:nvSpPr>
        <p:spPr>
          <a:xfrm>
            <a:off x="685783" y="5252482"/>
            <a:ext cx="525766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Corregir decisiones y código.</a:t>
            </a:r>
            <a:endParaRPr lang="en-US" sz="1550"/>
          </a:p>
        </p:txBody>
      </p:sp>
      <p:sp>
        <p:nvSpPr>
          <p:cNvPr id="16" name="Shape 14"/>
          <p:cNvSpPr/>
          <p:nvPr/>
        </p:nvSpPr>
        <p:spPr>
          <a:xfrm>
            <a:off x="6248244" y="4202906"/>
            <a:ext cx="5486263" cy="1538883"/>
          </a:xfrm>
          <a:prstGeom prst="roundRect">
            <a:avLst>
              <a:gd name="adj" fmla="val 7922"/>
            </a:avLst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76838" y="4782344"/>
            <a:ext cx="5029074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Respeto</a:t>
            </a:r>
            <a:endParaRPr lang="en-US" sz="2000"/>
          </a:p>
        </p:txBody>
      </p:sp>
      <p:sp>
        <p:nvSpPr>
          <p:cNvPr id="18" name="Text 16"/>
          <p:cNvSpPr/>
          <p:nvPr/>
        </p:nvSpPr>
        <p:spPr>
          <a:xfrm>
            <a:off x="6476838" y="5252482"/>
            <a:ext cx="5257668" cy="2657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2000"/>
              </a:lnSpc>
              <a:buNone/>
            </a:pPr>
            <a:r>
              <a:rPr lang="en-US" sz="1550">
                <a:solidFill>
                  <a:srgbClr val="000000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Colaborar y reconocer responsabilidades.</a:t>
            </a:r>
            <a:endParaRPr lang="en-US" sz="1550"/>
          </a:p>
        </p:txBody>
      </p:sp>
      <p:sp>
        <p:nvSpPr>
          <p:cNvPr id="19" name="Text 17"/>
          <p:cNvSpPr/>
          <p:nvPr/>
        </p:nvSpPr>
        <p:spPr>
          <a:xfrm>
            <a:off x="457189" y="5928479"/>
            <a:ext cx="11734506" cy="231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>
                <a:solidFill>
                  <a:srgbClr val="D7D1E1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Persona 1 cierra con la transición: necesidades → historias → backlog → iteración.</a:t>
            </a:r>
            <a:endParaRPr lang="en-US" sz="1400"/>
          </a:p>
        </p:txBody>
      </p:sp>
      <p:sp>
        <p:nvSpPr>
          <p:cNvPr id="20" name="Text 18"/>
          <p:cNvSpPr/>
          <p:nvPr/>
        </p:nvSpPr>
        <p:spPr>
          <a:xfrm>
            <a:off x="11778558" y="6526510"/>
            <a:ext cx="41313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06</a:t>
            </a:r>
            <a:endParaRPr lang="en-US" sz="1200"/>
          </a:p>
        </p:txBody>
      </p:sp>
      <p:sp>
        <p:nvSpPr>
          <p:cNvPr id="21" name="Shape 19"/>
          <p:cNvSpPr/>
          <p:nvPr/>
        </p:nvSpPr>
        <p:spPr>
          <a:xfrm>
            <a:off x="1892253" y="1534716"/>
            <a:ext cx="685783" cy="685800"/>
          </a:xfrm>
          <a:prstGeom prst="ellipse">
            <a:avLst/>
          </a:prstGeom>
          <a:solidFill>
            <a:srgbClr val="13663C"/>
          </a:solidFill>
          <a:ln/>
        </p:spPr>
      </p:sp>
      <p:pic>
        <p:nvPicPr>
          <p:cNvPr id="2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3698" y="1706166"/>
            <a:ext cx="342891" cy="342900"/>
          </a:xfrm>
          <a:prstGeom prst="rect">
            <a:avLst/>
          </a:prstGeom>
        </p:spPr>
      </p:pic>
      <p:sp>
        <p:nvSpPr>
          <p:cNvPr id="23" name="Shape 20"/>
          <p:cNvSpPr/>
          <p:nvPr/>
        </p:nvSpPr>
        <p:spPr>
          <a:xfrm>
            <a:off x="5752956" y="1534716"/>
            <a:ext cx="685783" cy="685800"/>
          </a:xfrm>
          <a:prstGeom prst="ellipse">
            <a:avLst/>
          </a:prstGeom>
          <a:solidFill>
            <a:srgbClr val="13663C"/>
          </a:solidFill>
          <a:ln/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24402" y="1706166"/>
            <a:ext cx="342891" cy="342900"/>
          </a:xfrm>
          <a:prstGeom prst="rect">
            <a:avLst/>
          </a:prstGeom>
        </p:spPr>
      </p:pic>
      <p:sp>
        <p:nvSpPr>
          <p:cNvPr id="25" name="Shape 21"/>
          <p:cNvSpPr/>
          <p:nvPr/>
        </p:nvSpPr>
        <p:spPr>
          <a:xfrm>
            <a:off x="9613659" y="1534716"/>
            <a:ext cx="685783" cy="685800"/>
          </a:xfrm>
          <a:prstGeom prst="ellipse">
            <a:avLst/>
          </a:prstGeom>
          <a:solidFill>
            <a:srgbClr val="13663C"/>
          </a:solidFill>
          <a:ln/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85105" y="1706166"/>
            <a:ext cx="342891" cy="342900"/>
          </a:xfrm>
          <a:prstGeom prst="rect">
            <a:avLst/>
          </a:prstGeom>
        </p:spPr>
      </p:pic>
      <p:sp>
        <p:nvSpPr>
          <p:cNvPr id="27" name="Shape 22"/>
          <p:cNvSpPr/>
          <p:nvPr/>
        </p:nvSpPr>
        <p:spPr>
          <a:xfrm>
            <a:off x="2857429" y="3860006"/>
            <a:ext cx="685783" cy="685800"/>
          </a:xfrm>
          <a:prstGeom prst="ellipse">
            <a:avLst/>
          </a:prstGeom>
          <a:solidFill>
            <a:srgbClr val="13663C"/>
          </a:solidFill>
          <a:ln/>
        </p:spPr>
      </p:sp>
      <p:pic>
        <p:nvPicPr>
          <p:cNvPr id="2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28874" y="4031456"/>
            <a:ext cx="342891" cy="342900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648484" y="3860006"/>
            <a:ext cx="685783" cy="685800"/>
          </a:xfrm>
          <a:prstGeom prst="ellipse">
            <a:avLst/>
          </a:prstGeom>
          <a:solidFill>
            <a:srgbClr val="13663C"/>
          </a:solidFill>
          <a:ln/>
        </p:spPr>
      </p:sp>
      <p:pic>
        <p:nvPicPr>
          <p:cNvPr id="3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819929" y="4031456"/>
            <a:ext cx="342891" cy="3429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509" cy="6858000"/>
          </a:xfrm>
          <a:prstGeom prst="rect">
            <a:avLst/>
          </a:prstGeom>
          <a:solidFill>
            <a:srgbClr val="2152C2"/>
          </a:solidFill>
          <a:ln/>
        </p:spPr>
      </p:sp>
      <p:sp>
        <p:nvSpPr>
          <p:cNvPr id="3" name="Text 1"/>
          <p:cNvSpPr/>
          <p:nvPr/>
        </p:nvSpPr>
        <p:spPr>
          <a:xfrm>
            <a:off x="355591" y="541655"/>
            <a:ext cx="330191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endParaRPr lang="en-US" sz="1300" kern="100" spc="13">
              <a:solidFill>
                <a:srgbClr val="FFFFFF"/>
              </a:solidFill>
              <a:latin typeface="IBM Plex Mono Medium"/>
            </a:endParaRPr>
          </a:p>
        </p:txBody>
      </p:sp>
      <p:sp>
        <p:nvSpPr>
          <p:cNvPr id="4" name="Text 2"/>
          <p:cNvSpPr/>
          <p:nvPr/>
        </p:nvSpPr>
        <p:spPr>
          <a:xfrm>
            <a:off x="355591" y="5125686"/>
            <a:ext cx="2946326" cy="1320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Bloque</a:t>
            </a:r>
            <a:endParaRPr lang="en-US" sz="5200"/>
          </a:p>
          <a:p>
            <a:pPr marL="0" indent="0" algn="l">
              <a:lnSpc>
                <a:spcPct val="83000"/>
              </a:lnSpc>
              <a:buNone/>
            </a:pPr>
            <a:r>
              <a:rPr lang="en-US" sz="5200" kern="100" spc="-104">
                <a:solidFill>
                  <a:srgbClr val="FFFFFF"/>
                </a:solidFill>
                <a:latin typeface="Literata ExtraBold" pitchFamily="34" charset="0"/>
                <a:ea typeface="Literata ExtraBold" pitchFamily="34" charset="-122"/>
                <a:cs typeface="Literata ExtraBold" pitchFamily="34" charset="-120"/>
              </a:rPr>
              <a:t>02</a:t>
            </a:r>
            <a:endParaRPr lang="en-US" sz="5200"/>
          </a:p>
        </p:txBody>
      </p:sp>
      <p:sp>
        <p:nvSpPr>
          <p:cNvPr id="5" name="Text 3"/>
          <p:cNvSpPr/>
          <p:nvPr/>
        </p:nvSpPr>
        <p:spPr>
          <a:xfrm>
            <a:off x="4317892" y="949841"/>
            <a:ext cx="7823004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HISTORIAS, BACKLOG E ITERACIONES</a:t>
            </a:r>
            <a:endParaRPr lang="en-US" sz="1300"/>
          </a:p>
        </p:txBody>
      </p:sp>
      <p:sp>
        <p:nvSpPr>
          <p:cNvPr id="6" name="Text 4"/>
          <p:cNvSpPr/>
          <p:nvPr/>
        </p:nvSpPr>
        <p:spPr>
          <a:xfrm>
            <a:off x="4317892" y="1323825"/>
            <a:ext cx="7213420" cy="11733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Bloque 2 · Historias, backlog e iteraciones</a:t>
            </a:r>
            <a:endParaRPr lang="en-US" sz="4400"/>
          </a:p>
        </p:txBody>
      </p:sp>
      <p:sp>
        <p:nvSpPr>
          <p:cNvPr id="7" name="Shape 5"/>
          <p:cNvSpPr/>
          <p:nvPr/>
        </p:nvSpPr>
        <p:spPr>
          <a:xfrm>
            <a:off x="4317892" y="2661345"/>
            <a:ext cx="1803256" cy="50701"/>
          </a:xfrm>
          <a:prstGeom prst="roundRect">
            <a:avLst>
              <a:gd name="adj" fmla="val 49999"/>
            </a:avLst>
          </a:prstGeom>
          <a:solidFill>
            <a:srgbClr val="13663C"/>
          </a:solidFill>
          <a:ln/>
        </p:spPr>
      </p:sp>
      <p:sp>
        <p:nvSpPr>
          <p:cNvPr id="8" name="Text 6"/>
          <p:cNvSpPr/>
          <p:nvPr/>
        </p:nvSpPr>
        <p:spPr>
          <a:xfrm>
            <a:off x="4317892" y="2951222"/>
            <a:ext cx="7823004" cy="377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Traducir necesidades en funcionalidades verificables.</a:t>
            </a:r>
            <a:endParaRPr lang="en-US" sz="22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17892" y="3500437"/>
            <a:ext cx="571486" cy="5715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4317892" y="4194175"/>
            <a:ext cx="22012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Historias</a:t>
            </a:r>
            <a:endParaRPr lang="en-US" sz="2000"/>
          </a:p>
        </p:txBody>
      </p:sp>
      <p:sp>
        <p:nvSpPr>
          <p:cNvPr id="11" name="Text 8"/>
          <p:cNvSpPr/>
          <p:nvPr/>
        </p:nvSpPr>
        <p:spPr>
          <a:xfrm>
            <a:off x="4317892" y="4663123"/>
            <a:ext cx="22012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Necesidades con propósito.</a:t>
            </a:r>
            <a:endParaRPr lang="en-US" sz="1800"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23896" y="3500437"/>
            <a:ext cx="571486" cy="5715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823896" y="4194175"/>
            <a:ext cx="2201311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Backlog</a:t>
            </a:r>
            <a:endParaRPr lang="en-US" sz="2000"/>
          </a:p>
        </p:txBody>
      </p:sp>
      <p:sp>
        <p:nvSpPr>
          <p:cNvPr id="14" name="Text 10"/>
          <p:cNvSpPr/>
          <p:nvPr/>
        </p:nvSpPr>
        <p:spPr>
          <a:xfrm>
            <a:off x="6823896" y="4663123"/>
            <a:ext cx="2201311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Trabajo priorizado y evolutivo.</a:t>
            </a:r>
            <a:endParaRPr lang="en-US" sz="1800"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30000" y="3500437"/>
            <a:ext cx="571486" cy="5715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330000" y="4194175"/>
            <a:ext cx="2201212" cy="330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200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Iteraciones</a:t>
            </a:r>
            <a:endParaRPr lang="en-US" sz="2000"/>
          </a:p>
        </p:txBody>
      </p:sp>
      <p:sp>
        <p:nvSpPr>
          <p:cNvPr id="17" name="Text 12"/>
          <p:cNvSpPr/>
          <p:nvPr/>
        </p:nvSpPr>
        <p:spPr>
          <a:xfrm>
            <a:off x="9330000" y="4663123"/>
            <a:ext cx="2201212" cy="6171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Esfuerzo relativo y entregables.</a:t>
            </a:r>
            <a:endParaRPr lang="en-US" sz="1800"/>
          </a:p>
        </p:txBody>
      </p:sp>
      <p:sp>
        <p:nvSpPr>
          <p:cNvPr id="18" name="Text 13"/>
          <p:cNvSpPr/>
          <p:nvPr/>
        </p:nvSpPr>
        <p:spPr>
          <a:xfrm>
            <a:off x="4317892" y="5463143"/>
            <a:ext cx="7213420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>
                <a:solidFill>
                  <a:srgbClr val="D7D1E1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La planificación orienta el trabajo; no demuestra por sí sola que una funcionalidad esté terminada.</a:t>
            </a:r>
            <a:endParaRPr lang="en-US" sz="1400"/>
          </a:p>
        </p:txBody>
      </p:sp>
      <p:sp>
        <p:nvSpPr>
          <p:cNvPr id="19" name="Text 14"/>
          <p:cNvSpPr/>
          <p:nvPr/>
        </p:nvSpPr>
        <p:spPr>
          <a:xfrm>
            <a:off x="11796814" y="6526510"/>
            <a:ext cx="394881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07</a:t>
            </a:r>
            <a:endParaRPr lang="en-US" sz="12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495618"/>
            <a:ext cx="7111822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kern="100" spc="13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DE LA NECESIDAD A LA PRUEBA</a:t>
            </a:r>
            <a:endParaRPr lang="en-US" sz="1300"/>
          </a:p>
        </p:txBody>
      </p:sp>
      <p:sp>
        <p:nvSpPr>
          <p:cNvPr id="3" name="Text 1"/>
          <p:cNvSpPr/>
          <p:nvPr/>
        </p:nvSpPr>
        <p:spPr>
          <a:xfrm>
            <a:off x="609585" y="869602"/>
            <a:ext cx="6654634" cy="17600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4400" b="1" kern="100" spc="-66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Historias de usuario: necesidades con propósito</a:t>
            </a:r>
            <a:endParaRPr lang="en-US" sz="4400"/>
          </a:p>
        </p:txBody>
      </p:sp>
      <p:sp>
        <p:nvSpPr>
          <p:cNvPr id="4" name="Shape 2"/>
          <p:cNvSpPr/>
          <p:nvPr/>
        </p:nvSpPr>
        <p:spPr>
          <a:xfrm>
            <a:off x="609585" y="2793802"/>
            <a:ext cx="1663658" cy="50701"/>
          </a:xfrm>
          <a:prstGeom prst="roundRect">
            <a:avLst>
              <a:gd name="adj" fmla="val 49999"/>
            </a:avLst>
          </a:prstGeom>
          <a:solidFill>
            <a:srgbClr val="13663C"/>
          </a:solidFill>
          <a:ln/>
        </p:spPr>
      </p:sp>
      <p:sp>
        <p:nvSpPr>
          <p:cNvPr id="5" name="Text 3"/>
          <p:cNvSpPr/>
          <p:nvPr/>
        </p:nvSpPr>
        <p:spPr>
          <a:xfrm>
            <a:off x="609585" y="3081774"/>
            <a:ext cx="7111822" cy="308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Estructura</a:t>
            </a:r>
            <a:endParaRPr lang="en-US" sz="1800"/>
          </a:p>
        </p:txBody>
      </p:sp>
      <p:sp>
        <p:nvSpPr>
          <p:cNvPr id="6" name="Text 4"/>
          <p:cNvSpPr/>
          <p:nvPr/>
        </p:nvSpPr>
        <p:spPr>
          <a:xfrm>
            <a:off x="609585" y="3570049"/>
            <a:ext cx="6654634" cy="754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2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“Como [usuario], quiero [funcionalidad], para [beneficio]”.</a:t>
            </a:r>
            <a:endParaRPr lang="en-US" sz="2200"/>
          </a:p>
        </p:txBody>
      </p:sp>
      <p:sp>
        <p:nvSpPr>
          <p:cNvPr id="7" name="Text 5"/>
          <p:cNvSpPr/>
          <p:nvPr/>
        </p:nvSpPr>
        <p:spPr>
          <a:xfrm>
            <a:off x="609585" y="4500205"/>
            <a:ext cx="6654634" cy="12342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8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Ejemplo: “Como estudiante o docente, quiero consultar la disponibilidad de los laboratorios según fecha y horario, para encontrar un espacio disponible sin revisar físicamente cada laboratorio”.</a:t>
            </a:r>
            <a:endParaRPr lang="en-US" sz="1800"/>
          </a:p>
        </p:txBody>
      </p:sp>
      <p:sp>
        <p:nvSpPr>
          <p:cNvPr id="8" name="Text 6"/>
          <p:cNvSpPr/>
          <p:nvPr/>
        </p:nvSpPr>
        <p:spPr>
          <a:xfrm>
            <a:off x="609585" y="5917366"/>
            <a:ext cx="6654634" cy="4621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400" kern="100" spc="14">
                <a:solidFill>
                  <a:srgbClr val="D7D1E1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Criterios de aceptación: deben indicar cómo comprobar que la historia funciona.</a:t>
            </a:r>
            <a:endParaRPr lang="en-US" sz="140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73803" y="457200"/>
            <a:ext cx="3759106" cy="59436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1781138" y="6526510"/>
            <a:ext cx="410557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08</a:t>
            </a:r>
            <a:endParaRPr lang="en-US" sz="12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3311"/>
            <a:ext cx="7071243" cy="16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PRIORIZAR EL VALOR</a:t>
            </a:r>
            <a:endParaRPr lang="en-US" sz="1000"/>
          </a:p>
        </p:txBody>
      </p:sp>
      <p:sp>
        <p:nvSpPr>
          <p:cNvPr id="3" name="Text 1"/>
          <p:cNvSpPr/>
          <p:nvPr/>
        </p:nvSpPr>
        <p:spPr>
          <a:xfrm>
            <a:off x="457189" y="737786"/>
            <a:ext cx="6614054" cy="9076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400" b="1" kern="100" spc="-51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Product Backlog: ordenar el valor</a:t>
            </a:r>
            <a:endParaRPr lang="en-US" sz="3400"/>
          </a:p>
        </p:txBody>
      </p:sp>
      <p:sp>
        <p:nvSpPr>
          <p:cNvPr id="4" name="Shape 2"/>
          <p:cNvSpPr/>
          <p:nvPr/>
        </p:nvSpPr>
        <p:spPr>
          <a:xfrm>
            <a:off x="8427231" y="457200"/>
            <a:ext cx="3307275" cy="261640"/>
          </a:xfrm>
          <a:prstGeom prst="roundRect">
            <a:avLst>
              <a:gd name="adj" fmla="val 49999"/>
            </a:avLst>
          </a:prstGeom>
          <a:noFill/>
          <a:ln w="6350">
            <a:solidFill>
              <a:srgbClr val="00000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22975" y="511134"/>
            <a:ext cx="3668720" cy="1659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000" kern="100" spc="10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20 funcionalidades · 91 puntos estimados</a:t>
            </a:r>
            <a:endParaRPr lang="en-US" sz="1000"/>
          </a:p>
        </p:txBody>
      </p:sp>
      <p:sp>
        <p:nvSpPr>
          <p:cNvPr id="6" name="Shape 4"/>
          <p:cNvSpPr/>
          <p:nvPr/>
        </p:nvSpPr>
        <p:spPr>
          <a:xfrm>
            <a:off x="0" y="3581400"/>
            <a:ext cx="5943451" cy="327660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/>
        </p:spPr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52396" y="3708400"/>
          <a:ext cx="5638659" cy="3332516"/>
        </p:xfrm>
        <a:graphic>
          <a:graphicData uri="http://schemas.openxmlformats.org/drawingml/2006/table">
            <a:tbl>
              <a:tblPr/>
              <a:tblGrid>
                <a:gridCol w="68300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9701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8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3093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39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36046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ID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Funcionalidad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Prioridad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Puntos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Iteración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42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HU-01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Inicio de sesión y autenticación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Alta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8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42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HU-02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Consultar disponibilidad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Alta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42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HU-03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Consultar horarios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Alta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3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425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HU-05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Solicitar uso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Alta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1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0612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HU-08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Aprobar o rechazar solicitudes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Alta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5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50">
                          <a:solidFill>
                            <a:srgbClr val="000000"/>
                          </a:solidFill>
                          <a:latin typeface="IBM Plex Mono" pitchFamily="34" charset="0"/>
                          <a:ea typeface="IBM Plex Mono" pitchFamily="34" charset="-122"/>
                          <a:cs typeface="IBM Plex Mono" pitchFamily="34" charset="-120"/>
                        </a:rPr>
                        <a:t>2</a:t>
                      </a:r>
                      <a:endParaRPr lang="en-US" sz="1250">
                        <a:latin typeface="IBM Plex Mono" charset="0"/>
                        <a:ea typeface="IBM Plex Mono" charset="0"/>
                        <a:cs typeface="IBM Plex Mono" charset="0"/>
                      </a:endParaRPr>
                    </a:p>
                  </a:txBody>
                  <a:tcPr marL="132647" marR="132647" marT="70745" marB="70745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0CC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6705432" y="4040776"/>
            <a:ext cx="5029074" cy="16938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HU-01 autenticación · HU-02 disponibilidad · HU-03 horarios · HU-04 información del laboratorio.</a:t>
            </a:r>
            <a:endParaRPr lang="en-US" sz="14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HU-05 solicitud de uso · HU-06 mis solicitudes · HU-07 estado de solicitud.</a:t>
            </a:r>
            <a:endParaRPr lang="en-US" sz="14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 b="1">
                <a:solidFill>
                  <a:srgbClr val="FFFFFF"/>
                </a:solidFill>
                <a:latin typeface="Instrument Sans Bold" pitchFamily="34" charset="0"/>
                <a:ea typeface="Instrument Sans Bold" pitchFamily="34" charset="-122"/>
                <a:cs typeface="Instrument Sans Bold" pitchFamily="34" charset="-120"/>
              </a:rPr>
              <a:t>Luego:</a:t>
            </a:r>
            <a:r>
              <a:rPr lang="en-US" sz="14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 gestión administrativa, incidencias, historiales, reportes, notificaciones e indicadores.</a:t>
            </a:r>
            <a:endParaRPr lang="en-US" sz="1400"/>
          </a:p>
          <a:p>
            <a:pPr marL="0" indent="0" algn="l">
              <a:lnSpc>
                <a:spcPct val="100000"/>
              </a:lnSpc>
              <a:buNone/>
            </a:pPr>
            <a:r>
              <a:rPr lang="en-US" sz="14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El backlog es priorizado y evolutivo; no es una lista de funcionalidades ya implementadas.</a:t>
            </a:r>
            <a:endParaRPr lang="en-US" sz="1400"/>
          </a:p>
        </p:txBody>
      </p:sp>
      <p:sp>
        <p:nvSpPr>
          <p:cNvPr id="9" name="Text 6"/>
          <p:cNvSpPr/>
          <p:nvPr/>
        </p:nvSpPr>
        <p:spPr>
          <a:xfrm>
            <a:off x="11776872" y="6526510"/>
            <a:ext cx="41482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09</a:t>
            </a:r>
            <a:endParaRPr lang="en-US" sz="12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189" y="467373"/>
            <a:ext cx="11277318" cy="1879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150" kern="100" spc="11">
                <a:solidFill>
                  <a:srgbClr val="000000"/>
                </a:solidFill>
                <a:latin typeface="IBM Plex Mono Medium" pitchFamily="34" charset="0"/>
                <a:ea typeface="IBM Plex Mono Medium" pitchFamily="34" charset="-122"/>
                <a:cs typeface="IBM Plex Mono Medium" pitchFamily="34" charset="-120"/>
              </a:rPr>
              <a:t>LA DEPENDENCIA DEFINE EL ORDEN</a:t>
            </a:r>
            <a:endParaRPr lang="en-US" sz="1150"/>
          </a:p>
        </p:txBody>
      </p:sp>
      <p:sp>
        <p:nvSpPr>
          <p:cNvPr id="3" name="Text 1"/>
          <p:cNvSpPr/>
          <p:nvPr/>
        </p:nvSpPr>
        <p:spPr>
          <a:xfrm>
            <a:off x="457189" y="782241"/>
            <a:ext cx="11277318" cy="5136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7000"/>
              </a:lnSpc>
              <a:buNone/>
            </a:pPr>
            <a:r>
              <a:rPr lang="en-US" sz="3850" b="1" kern="100" spc="-58">
                <a:solidFill>
                  <a:srgbClr val="000000"/>
                </a:solidFill>
                <a:latin typeface="Literata Bold" pitchFamily="34" charset="0"/>
                <a:ea typeface="Literata Bold" pitchFamily="34" charset="-122"/>
                <a:cs typeface="Literata Bold" pitchFamily="34" charset="-120"/>
              </a:rPr>
              <a:t>Priorización: primero el flujo principal</a:t>
            </a:r>
            <a:endParaRPr lang="en-US" sz="385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189" y="2744688"/>
            <a:ext cx="500248" cy="50026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189" y="3389867"/>
            <a:ext cx="3454314" cy="28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Autenticación</a:t>
            </a:r>
            <a:endParaRPr lang="en-US" sz="1750"/>
          </a:p>
        </p:txBody>
      </p:sp>
      <p:sp>
        <p:nvSpPr>
          <p:cNvPr id="6" name="Text 3"/>
          <p:cNvSpPr/>
          <p:nvPr/>
        </p:nvSpPr>
        <p:spPr>
          <a:xfrm>
            <a:off x="457189" y="3787735"/>
            <a:ext cx="345431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 autenticación habilita el control de acceso y los roles.</a:t>
            </a:r>
            <a:endParaRPr lang="en-US" sz="160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68691" y="2744688"/>
            <a:ext cx="500248" cy="500261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368691" y="3389867"/>
            <a:ext cx="3454314" cy="289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Consulta</a:t>
            </a:r>
            <a:endParaRPr lang="en-US" sz="1750"/>
          </a:p>
        </p:txBody>
      </p:sp>
      <p:sp>
        <p:nvSpPr>
          <p:cNvPr id="9" name="Text 5"/>
          <p:cNvSpPr/>
          <p:nvPr/>
        </p:nvSpPr>
        <p:spPr>
          <a:xfrm>
            <a:off x="4368691" y="3787735"/>
            <a:ext cx="3454314" cy="7599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Disponibilidad y horarios permiten saber cuándo y dónde se puede solicitar.</a:t>
            </a:r>
            <a:endParaRPr lang="en-US" sz="160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193" y="2744688"/>
            <a:ext cx="500248" cy="500261"/>
          </a:xfrm>
          <a:prstGeom prst="rect">
            <a:avLst/>
          </a:prstGeom>
        </p:spPr>
      </p:pic>
      <p:pic>
        <p:nvPicPr>
          <p:cNvPr id="11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82396" y="2744688"/>
            <a:ext cx="500248" cy="500261"/>
          </a:xfrm>
          <a:prstGeom prst="rect">
            <a:avLst/>
          </a:prstGeom>
        </p:spPr>
      </p:pic>
      <p:pic>
        <p:nvPicPr>
          <p:cNvPr id="1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84600" y="2744688"/>
            <a:ext cx="500248" cy="500261"/>
          </a:xfrm>
          <a:prstGeom prst="rect">
            <a:avLst/>
          </a:prstGeom>
        </p:spPr>
      </p:pic>
      <p:sp>
        <p:nvSpPr>
          <p:cNvPr id="13" name="Text 6"/>
          <p:cNvSpPr/>
          <p:nvPr/>
        </p:nvSpPr>
        <p:spPr>
          <a:xfrm>
            <a:off x="8280193" y="3389867"/>
            <a:ext cx="3454314" cy="578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75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Solicitud → Aprobación → Seguimiento</a:t>
            </a:r>
            <a:endParaRPr lang="en-US" sz="1750"/>
          </a:p>
        </p:txBody>
      </p:sp>
      <p:sp>
        <p:nvSpPr>
          <p:cNvPr id="14" name="Text 7"/>
          <p:cNvSpPr/>
          <p:nvPr/>
        </p:nvSpPr>
        <p:spPr>
          <a:xfrm>
            <a:off x="8280193" y="4076759"/>
            <a:ext cx="3454314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Las solicitudes y su seguimiento construyen el flujo básico.</a:t>
            </a:r>
            <a:endParaRPr lang="en-US" sz="1600"/>
          </a:p>
        </p:txBody>
      </p:sp>
      <p:sp>
        <p:nvSpPr>
          <p:cNvPr id="15" name="Text 8"/>
          <p:cNvSpPr/>
          <p:nvPr/>
        </p:nvSpPr>
        <p:spPr>
          <a:xfrm>
            <a:off x="457189" y="5040471"/>
            <a:ext cx="11277318" cy="5066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6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Criterios: valor para el usuario, dependencias y contribución al flujo principal. Incidencias, historiales, reportes y estadísticas amplían la gestión.</a:t>
            </a:r>
            <a:endParaRPr lang="en-US" sz="1600"/>
          </a:p>
        </p:txBody>
      </p:sp>
      <p:sp>
        <p:nvSpPr>
          <p:cNvPr id="16" name="Text 9"/>
          <p:cNvSpPr/>
          <p:nvPr/>
        </p:nvSpPr>
        <p:spPr>
          <a:xfrm>
            <a:off x="11812689" y="6526510"/>
            <a:ext cx="37900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13000"/>
              </a:lnSpc>
              <a:buNone/>
            </a:pPr>
            <a:r>
              <a:rPr lang="en-US" sz="120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10</a:t>
            </a:r>
            <a:endParaRPr lang="en-US" sz="12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10</Slides>
  <Notes>10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revision>1</cp:revision>
  <dcterms:created xsi:type="dcterms:W3CDTF">2026-10-15T13:12:44Z</dcterms:created>
  <dcterms:modified xsi:type="dcterms:W3CDTF">2026-10-20T15:36:52Z</dcterms:modified>
</cp:coreProperties>
</file>